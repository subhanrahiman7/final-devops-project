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yourself. One sentence: I built a support-ticket app and took it through the whole DevOps life cycle - tests, containers, CI/CD, security scanning, Terraform, Kubernetes, Helm and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Why: the course asks for the whole path, not isolated tools. The numbers on the bottom are real results from my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layers. Each one is covered by a slide later. Python 3.12 for the backend, as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row is the delivery pipeline; the amber box is the security gate - a failed scan stops everything after it. Bottom row is what runs in Kubernetes.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running app. Create a ticket, refresh, and the number changes: the data goes frontend to backend to PostgreSQL and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Backend waits for the database to be healthy before it starts and runs the Alembic migration on startup.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green run on main. Jobs: backend tests, frontend build, Terraform and Helm checks, Gitleaks, two image jobs (build, scan, push), and the deploy to kind.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Trivy scanned: both container images, plus the Terraform, Helm and Dockerfile code. The findings were operating-system packages (for example libcrypto3) in the base image, not my code. A clean result means no known fixable HIGH or CRITICAL CVEs at scan time - it is one control, not a guarantee.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layout follows the capstone structure. .env and tfvars are git-ignored; Gitleaks scans the whole history in 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pods Running, helm list shows the release, helm test passed. Two real bugs found here: duplicate demo data from parallel replicas (fixed with advisory locks) and the PostgreSQL crash loop with dropped capabilities (fixed by running as the postgres user).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load pods called the API; CPU rose to about 339% of the request, the HPA went from 2 to 4 to 5 pods. Prometheus finds the backend through a ServiceMonitor, and there are alert rules for backend down, 5xx rate and latency.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no real EKS cluster was created. The Kubernetes demo runs on minikube, and CI uses kind.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Method for both: get, describe and events, logs, compare labels and ports, fix the smallest thing, verify from the outside.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instructor asked for the alternatives. Short answers; the first column is the need, the second is what I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A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A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22960" y="15544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HelpDesk</a:t>
            </a:r>
            <a:endParaRPr lang="en-US" sz="8000" dirty="0"/>
          </a:p>
        </p:txBody>
      </p:sp>
      <p:sp>
        <p:nvSpPr>
          <p:cNvPr id="3" name="Subtitle"/>
          <p:cNvSpPr txBox="1"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FB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laptop to a monitored Kubernetes cluster</a:t>
            </a:r>
            <a:endParaRPr lang="en-US" sz="3000" dirty="0"/>
          </a:p>
        </p:txBody>
      </p:sp>
      <p:sp>
        <p:nvSpPr>
          <p:cNvPr id="4" name="Author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final capstone  |  Subhan Rahiman  |  24BCS10095</a:t>
            </a:r>
            <a:endParaRPr lang="en-US" sz="1800" dirty="0"/>
          </a:p>
        </p:txBody>
      </p:sp>
      <p:sp>
        <p:nvSpPr>
          <p:cNvPr id="5" name="Repo link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A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github.com/SubhanRahiman7/final-devops-project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built, and why</a:t>
            </a:r>
            <a:endParaRPr lang="en-US" sz="3600" dirty="0"/>
          </a:p>
        </p:txBody>
      </p:sp>
      <p:sp>
        <p:nvSpPr>
          <p:cNvPr id="3" name="Card 1"/>
          <p:cNvSpPr/>
          <p:nvPr/>
        </p:nvSpPr>
        <p:spPr>
          <a:xfrm>
            <a:off x="548640" y="1463040"/>
            <a:ext cx="3520440" cy="27432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Icon disc 1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883664"/>
            <a:ext cx="347472" cy="347472"/>
          </a:xfrm>
          <a:prstGeom prst="rect">
            <a:avLst/>
          </a:prstGeom>
        </p:spPr>
      </p:pic>
      <p:sp>
        <p:nvSpPr>
          <p:cNvPr id="6" name="Card title 1"/>
          <p:cNvSpPr txBox="1"/>
          <p:nvPr/>
        </p:nvSpPr>
        <p:spPr>
          <a:xfrm>
            <a:off x="822960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application</a:t>
            </a:r>
            <a:endParaRPr lang="en-US" sz="2200" dirty="0"/>
          </a:p>
        </p:txBody>
      </p:sp>
      <p:sp>
        <p:nvSpPr>
          <p:cNvPr id="7" name="Card text 1"/>
          <p:cNvSpPr txBox="1"/>
          <p:nvPr/>
        </p:nvSpPr>
        <p:spPr>
          <a:xfrm>
            <a:off x="822960" y="297180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support-ticket dashboard: React frontend, FastAPI backend, PostgreSQL database. A real app with live data, not a static page.</a:t>
            </a:r>
            <a:endParaRPr lang="en-US" sz="1500" dirty="0"/>
          </a:p>
        </p:txBody>
      </p:sp>
      <p:sp>
        <p:nvSpPr>
          <p:cNvPr id="8" name="Card 2"/>
          <p:cNvSpPr/>
          <p:nvPr/>
        </p:nvSpPr>
        <p:spPr>
          <a:xfrm>
            <a:off x="4297680" y="1463040"/>
            <a:ext cx="3520440" cy="27432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Icon disc 2"/>
          <p:cNvSpPr/>
          <p:nvPr/>
        </p:nvSpPr>
        <p:spPr>
          <a:xfrm>
            <a:off x="4572000" y="17373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1883664"/>
            <a:ext cx="347472" cy="347472"/>
          </a:xfrm>
          <a:prstGeom prst="rect">
            <a:avLst/>
          </a:prstGeom>
        </p:spPr>
      </p:pic>
      <p:sp>
        <p:nvSpPr>
          <p:cNvPr id="11" name="Card title 2"/>
          <p:cNvSpPr txBox="1"/>
          <p:nvPr/>
        </p:nvSpPr>
        <p:spPr>
          <a:xfrm>
            <a:off x="4572000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</a:t>
            </a:r>
            <a:endParaRPr lang="en-US" sz="2200" dirty="0"/>
          </a:p>
        </p:txBody>
      </p:sp>
      <p:sp>
        <p:nvSpPr>
          <p:cNvPr id="12" name="Card text 2"/>
          <p:cNvSpPr txBox="1"/>
          <p:nvPr/>
        </p:nvSpPr>
        <p:spPr>
          <a:xfrm>
            <a:off x="4572000" y="297180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how one application travels from a developer laptop to a monitored Kubernetes environment, automatically and safely.</a:t>
            </a:r>
            <a:endParaRPr lang="en-US" sz="1500" dirty="0"/>
          </a:p>
        </p:txBody>
      </p:sp>
      <p:sp>
        <p:nvSpPr>
          <p:cNvPr id="13" name="Card 3"/>
          <p:cNvSpPr/>
          <p:nvPr/>
        </p:nvSpPr>
        <p:spPr>
          <a:xfrm>
            <a:off x="8046720" y="1463040"/>
            <a:ext cx="3520440" cy="27432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Icon disc 3"/>
          <p:cNvSpPr/>
          <p:nvPr/>
        </p:nvSpPr>
        <p:spPr>
          <a:xfrm>
            <a:off x="8321040" y="17373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1883664"/>
            <a:ext cx="347472" cy="347472"/>
          </a:xfrm>
          <a:prstGeom prst="rect">
            <a:avLst/>
          </a:prstGeom>
        </p:spPr>
      </p:pic>
      <p:sp>
        <p:nvSpPr>
          <p:cNvPr id="16" name="Card title 3"/>
          <p:cNvSpPr txBox="1"/>
          <p:nvPr/>
        </p:nvSpPr>
        <p:spPr>
          <a:xfrm>
            <a:off x="8321040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</a:t>
            </a:r>
            <a:endParaRPr lang="en-US" sz="2200" dirty="0"/>
          </a:p>
        </p:txBody>
      </p:sp>
      <p:sp>
        <p:nvSpPr>
          <p:cNvPr id="17" name="Card text 3"/>
          <p:cNvSpPr txBox="1"/>
          <p:nvPr/>
        </p:nvSpPr>
        <p:spPr>
          <a:xfrm>
            <a:off x="8321040" y="297180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reaches production unless tests pass and the security scan is clean. Every image is traceable to a commit.</a:t>
            </a:r>
            <a:endParaRPr lang="en-US" sz="1500" dirty="0"/>
          </a:p>
        </p:txBody>
      </p:sp>
      <p:sp>
        <p:nvSpPr>
          <p:cNvPr id="18" name="Stat test coverage"/>
          <p:cNvSpPr txBox="1"/>
          <p:nvPr/>
        </p:nvSpPr>
        <p:spPr>
          <a:xfrm>
            <a:off x="548640" y="4663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4400" dirty="0"/>
          </a:p>
        </p:txBody>
      </p:sp>
      <p:sp>
        <p:nvSpPr>
          <p:cNvPr id="19" name="Stat label test coverage"/>
          <p:cNvSpPr txBox="1"/>
          <p:nvPr/>
        </p:nvSpPr>
        <p:spPr>
          <a:xfrm>
            <a:off x="548640" y="5486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400" dirty="0"/>
          </a:p>
        </p:txBody>
      </p:sp>
      <p:sp>
        <p:nvSpPr>
          <p:cNvPr id="20" name="Stat CI jobs, all green"/>
          <p:cNvSpPr txBox="1"/>
          <p:nvPr/>
        </p:nvSpPr>
        <p:spPr>
          <a:xfrm>
            <a:off x="3383280" y="4663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21" name="Stat label CI jobs, all green"/>
          <p:cNvSpPr txBox="1"/>
          <p:nvPr/>
        </p:nvSpPr>
        <p:spPr>
          <a:xfrm>
            <a:off x="3383280" y="5486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jobs, all green</a:t>
            </a:r>
            <a:endParaRPr lang="en-US" sz="1400" dirty="0"/>
          </a:p>
        </p:txBody>
      </p:sp>
      <p:sp>
        <p:nvSpPr>
          <p:cNvPr id="22" name="Stat fixable CVEs after the Trivy fix"/>
          <p:cNvSpPr txBox="1"/>
          <p:nvPr/>
        </p:nvSpPr>
        <p:spPr>
          <a:xfrm>
            <a:off x="6217920" y="46634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 &gt; 0</a:t>
            </a:r>
            <a:endParaRPr lang="en-US" sz="4400" dirty="0"/>
          </a:p>
        </p:txBody>
      </p:sp>
      <p:sp>
        <p:nvSpPr>
          <p:cNvPr id="23" name="Stat label fixable CVEs after the Trivy fix"/>
          <p:cNvSpPr txBox="1"/>
          <p:nvPr/>
        </p:nvSpPr>
        <p:spPr>
          <a:xfrm>
            <a:off x="6217920" y="5486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fixable CVEs after the Trivy fix</a:t>
            </a:r>
            <a:endParaRPr lang="en-US" sz="1400" dirty="0"/>
          </a:p>
        </p:txBody>
      </p:sp>
      <p:sp>
        <p:nvSpPr>
          <p:cNvPr id="24" name="Stat pods when the HPA scales"/>
          <p:cNvSpPr txBox="1"/>
          <p:nvPr/>
        </p:nvSpPr>
        <p:spPr>
          <a:xfrm>
            <a:off x="9418320" y="46634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&gt; 5</a:t>
            </a:r>
            <a:endParaRPr lang="en-US" sz="4400" dirty="0"/>
          </a:p>
        </p:txBody>
      </p:sp>
      <p:sp>
        <p:nvSpPr>
          <p:cNvPr id="25" name="Stat label pods when the HPA scales"/>
          <p:cNvSpPr txBox="1"/>
          <p:nvPr/>
        </p:nvSpPr>
        <p:spPr>
          <a:xfrm>
            <a:off x="9418320" y="5486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when the HPA scales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A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3" name="Stack card 1"/>
          <p:cNvSpPr/>
          <p:nvPr/>
        </p:nvSpPr>
        <p:spPr>
          <a:xfrm>
            <a:off x="548640" y="1417320"/>
            <a:ext cx="352044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Stack icon disc 1"/>
          <p:cNvSpPr/>
          <p:nvPr/>
        </p:nvSpPr>
        <p:spPr>
          <a:xfrm>
            <a:off x="822960" y="169164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Stack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8800"/>
            <a:ext cx="320040" cy="320040"/>
          </a:xfrm>
          <a:prstGeom prst="rect">
            <a:avLst/>
          </a:prstGeom>
        </p:spPr>
      </p:pic>
      <p:sp>
        <p:nvSpPr>
          <p:cNvPr id="6" name="Stack title 1"/>
          <p:cNvSpPr txBox="1"/>
          <p:nvPr/>
        </p:nvSpPr>
        <p:spPr>
          <a:xfrm>
            <a:off x="1554480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2200" dirty="0"/>
          </a:p>
        </p:txBody>
      </p:sp>
      <p:sp>
        <p:nvSpPr>
          <p:cNvPr id="7" name="Stack text 1"/>
          <p:cNvSpPr txBox="1"/>
          <p:nvPr/>
        </p:nvSpPr>
        <p:spPr>
          <a:xfrm>
            <a:off x="822960" y="2468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Vite, FastAPI, SQLAlchemy, Alembic, PostgreSQL, pytest</a:t>
            </a:r>
            <a:endParaRPr lang="en-US" sz="1500" dirty="0"/>
          </a:p>
        </p:txBody>
      </p:sp>
      <p:sp>
        <p:nvSpPr>
          <p:cNvPr id="8" name="Stack card 2"/>
          <p:cNvSpPr/>
          <p:nvPr/>
        </p:nvSpPr>
        <p:spPr>
          <a:xfrm>
            <a:off x="4297680" y="1417320"/>
            <a:ext cx="352044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tack icon disc 2"/>
          <p:cNvSpPr/>
          <p:nvPr/>
        </p:nvSpPr>
        <p:spPr>
          <a:xfrm>
            <a:off x="4572000" y="169164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Stack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828800"/>
            <a:ext cx="320040" cy="320040"/>
          </a:xfrm>
          <a:prstGeom prst="rect">
            <a:avLst/>
          </a:prstGeom>
        </p:spPr>
      </p:pic>
      <p:sp>
        <p:nvSpPr>
          <p:cNvPr id="11" name="Stack title 2"/>
          <p:cNvSpPr txBox="1"/>
          <p:nvPr/>
        </p:nvSpPr>
        <p:spPr>
          <a:xfrm>
            <a:off x="5303520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and ship</a:t>
            </a:r>
            <a:endParaRPr lang="en-US" sz="2200" dirty="0"/>
          </a:p>
        </p:txBody>
      </p:sp>
      <p:sp>
        <p:nvSpPr>
          <p:cNvPr id="12" name="Stack text 2"/>
          <p:cNvSpPr txBox="1"/>
          <p:nvPr/>
        </p:nvSpPr>
        <p:spPr>
          <a:xfrm>
            <a:off x="4572000" y="2468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multi-stage images, Docker Compose, GitHub Actions, GHCR</a:t>
            </a:r>
            <a:endParaRPr lang="en-US" sz="1500" dirty="0"/>
          </a:p>
        </p:txBody>
      </p:sp>
      <p:sp>
        <p:nvSpPr>
          <p:cNvPr id="13" name="Stack card 3"/>
          <p:cNvSpPr/>
          <p:nvPr/>
        </p:nvSpPr>
        <p:spPr>
          <a:xfrm>
            <a:off x="8046720" y="1417320"/>
            <a:ext cx="352044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tack icon disc 3"/>
          <p:cNvSpPr/>
          <p:nvPr/>
        </p:nvSpPr>
        <p:spPr>
          <a:xfrm>
            <a:off x="8321040" y="169164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Stack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828800"/>
            <a:ext cx="320040" cy="320040"/>
          </a:xfrm>
          <a:prstGeom prst="rect">
            <a:avLst/>
          </a:prstGeom>
        </p:spPr>
      </p:pic>
      <p:sp>
        <p:nvSpPr>
          <p:cNvPr id="16" name="Stack title 3"/>
          <p:cNvSpPr txBox="1"/>
          <p:nvPr/>
        </p:nvSpPr>
        <p:spPr>
          <a:xfrm>
            <a:off x="9052560" y="1691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2200" dirty="0"/>
          </a:p>
        </p:txBody>
      </p:sp>
      <p:sp>
        <p:nvSpPr>
          <p:cNvPr id="17" name="Stack text 3"/>
          <p:cNvSpPr txBox="1"/>
          <p:nvPr/>
        </p:nvSpPr>
        <p:spPr>
          <a:xfrm>
            <a:off x="8321040" y="24688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image + IaC scans, Gitleaks, Dependabot, non-root containers</a:t>
            </a:r>
            <a:endParaRPr lang="en-US" sz="1500" dirty="0"/>
          </a:p>
        </p:txBody>
      </p:sp>
      <p:sp>
        <p:nvSpPr>
          <p:cNvPr id="18" name="Stack card 4"/>
          <p:cNvSpPr/>
          <p:nvPr/>
        </p:nvSpPr>
        <p:spPr>
          <a:xfrm>
            <a:off x="548640" y="3931920"/>
            <a:ext cx="352044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Stack icon disc 4"/>
          <p:cNvSpPr/>
          <p:nvPr/>
        </p:nvSpPr>
        <p:spPr>
          <a:xfrm>
            <a:off x="822960" y="420624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Stack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343400"/>
            <a:ext cx="320040" cy="320040"/>
          </a:xfrm>
          <a:prstGeom prst="rect">
            <a:avLst/>
          </a:prstGeom>
        </p:spPr>
      </p:pic>
      <p:sp>
        <p:nvSpPr>
          <p:cNvPr id="21" name="Stack title 4"/>
          <p:cNvSpPr txBox="1"/>
          <p:nvPr/>
        </p:nvSpPr>
        <p:spPr>
          <a:xfrm>
            <a:off x="1554480" y="4206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2200" dirty="0"/>
          </a:p>
        </p:txBody>
      </p:sp>
      <p:sp>
        <p:nvSpPr>
          <p:cNvPr id="22" name="Stack text 4"/>
          <p:cNvSpPr txBox="1"/>
          <p:nvPr/>
        </p:nvSpPr>
        <p:spPr>
          <a:xfrm>
            <a:off x="822960" y="49834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Terraform: AWS VPC, subnets, NAT, EKS node group, KMS</a:t>
            </a:r>
            <a:endParaRPr lang="en-US" sz="1500" dirty="0"/>
          </a:p>
        </p:txBody>
      </p:sp>
      <p:sp>
        <p:nvSpPr>
          <p:cNvPr id="23" name="Stack card 5"/>
          <p:cNvSpPr/>
          <p:nvPr/>
        </p:nvSpPr>
        <p:spPr>
          <a:xfrm>
            <a:off x="4297680" y="3931920"/>
            <a:ext cx="352044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4" name="Stack icon disc 5"/>
          <p:cNvSpPr/>
          <p:nvPr/>
        </p:nvSpPr>
        <p:spPr>
          <a:xfrm>
            <a:off x="4572000" y="420624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5" name="Stack icon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343400"/>
            <a:ext cx="320040" cy="320040"/>
          </a:xfrm>
          <a:prstGeom prst="rect">
            <a:avLst/>
          </a:prstGeom>
        </p:spPr>
      </p:pic>
      <p:sp>
        <p:nvSpPr>
          <p:cNvPr id="26" name="Stack title 5"/>
          <p:cNvSpPr txBox="1"/>
          <p:nvPr/>
        </p:nvSpPr>
        <p:spPr>
          <a:xfrm>
            <a:off x="5303520" y="4206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</a:t>
            </a:r>
            <a:endParaRPr lang="en-US" sz="2200" dirty="0"/>
          </a:p>
        </p:txBody>
      </p:sp>
      <p:sp>
        <p:nvSpPr>
          <p:cNvPr id="27" name="Stack text 5"/>
          <p:cNvSpPr txBox="1"/>
          <p:nvPr/>
        </p:nvSpPr>
        <p:spPr>
          <a:xfrm>
            <a:off x="4572000" y="49834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Kubernetes, Helm chart, nginx Ingress, HPA, probes, PVC</a:t>
            </a:r>
            <a:endParaRPr lang="en-US" sz="1500" dirty="0"/>
          </a:p>
        </p:txBody>
      </p:sp>
      <p:sp>
        <p:nvSpPr>
          <p:cNvPr id="28" name="Stack card 6"/>
          <p:cNvSpPr/>
          <p:nvPr/>
        </p:nvSpPr>
        <p:spPr>
          <a:xfrm>
            <a:off x="8046720" y="3931920"/>
            <a:ext cx="352044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29" name="Stack icon disc 6"/>
          <p:cNvSpPr/>
          <p:nvPr/>
        </p:nvSpPr>
        <p:spPr>
          <a:xfrm>
            <a:off x="8321040" y="4206240"/>
            <a:ext cx="594360" cy="5943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0" name="Stack icon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4343400"/>
            <a:ext cx="320040" cy="320040"/>
          </a:xfrm>
          <a:prstGeom prst="rect">
            <a:avLst/>
          </a:prstGeom>
        </p:spPr>
      </p:pic>
      <p:sp>
        <p:nvSpPr>
          <p:cNvPr id="31" name="Stack title 6"/>
          <p:cNvSpPr txBox="1"/>
          <p:nvPr/>
        </p:nvSpPr>
        <p:spPr>
          <a:xfrm>
            <a:off x="9052560" y="4206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</a:t>
            </a:r>
            <a:endParaRPr lang="en-US" sz="2200" dirty="0"/>
          </a:p>
        </p:txBody>
      </p:sp>
      <p:sp>
        <p:nvSpPr>
          <p:cNvPr id="32" name="Stack text 6"/>
          <p:cNvSpPr txBox="1"/>
          <p:nvPr/>
        </p:nvSpPr>
        <p:spPr>
          <a:xfrm>
            <a:off x="8321040" y="49834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Prometheus, Grafana dashboard, alert rules, /health /ready /metrics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A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change travels</a:t>
            </a:r>
            <a:endParaRPr lang="en-US" sz="3600" dirty="0"/>
          </a:p>
        </p:txBody>
      </p:sp>
      <p:sp>
        <p:nvSpPr>
          <p:cNvPr id="3" name="Step 1"/>
          <p:cNvSpPr/>
          <p:nvPr/>
        </p:nvSpPr>
        <p:spPr>
          <a:xfrm>
            <a:off x="548640" y="1600200"/>
            <a:ext cx="1280160" cy="1371600"/>
          </a:xfrm>
          <a:prstGeom prst="roundRect">
            <a:avLst>
              <a:gd name="adj" fmla="val 7143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Step text 1"/>
          <p:cNvSpPr txBox="1"/>
          <p:nvPr/>
        </p:nvSpPr>
        <p:spPr>
          <a:xfrm>
            <a:off x="548640" y="1600200"/>
            <a:ext cx="128016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</a:t>
            </a:r>
            <a:endParaRPr lang="en-US" sz="1600" dirty="0"/>
          </a:p>
        </p:txBody>
      </p:sp>
      <p:sp>
        <p:nvSpPr>
          <p:cNvPr id="5" name="Step 2"/>
          <p:cNvSpPr/>
          <p:nvPr/>
        </p:nvSpPr>
        <p:spPr>
          <a:xfrm>
            <a:off x="1965960" y="1600200"/>
            <a:ext cx="1280160" cy="137160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tep text 2"/>
          <p:cNvSpPr txBox="1"/>
          <p:nvPr/>
        </p:nvSpPr>
        <p:spPr>
          <a:xfrm>
            <a:off x="1965960" y="1600200"/>
            <a:ext cx="128016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main</a:t>
            </a:r>
            <a:endParaRPr lang="en-US" sz="1600" dirty="0"/>
          </a:p>
        </p:txBody>
      </p:sp>
      <p:sp>
        <p:nvSpPr>
          <p:cNvPr id="7" name="Step 3"/>
          <p:cNvSpPr/>
          <p:nvPr/>
        </p:nvSpPr>
        <p:spPr>
          <a:xfrm>
            <a:off x="3383280" y="1600200"/>
            <a:ext cx="1280160" cy="1371600"/>
          </a:xfrm>
          <a:prstGeom prst="roundRect">
            <a:avLst>
              <a:gd name="adj" fmla="val 7143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tep text 3"/>
          <p:cNvSpPr txBox="1"/>
          <p:nvPr/>
        </p:nvSpPr>
        <p:spPr>
          <a:xfrm>
            <a:off x="3383280" y="1600200"/>
            <a:ext cx="128016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pytest, build, lint</a:t>
            </a:r>
            <a:endParaRPr lang="en-US" sz="1600" dirty="0"/>
          </a:p>
        </p:txBody>
      </p:sp>
      <p:sp>
        <p:nvSpPr>
          <p:cNvPr id="9" name="Step 4"/>
          <p:cNvSpPr/>
          <p:nvPr/>
        </p:nvSpPr>
        <p:spPr>
          <a:xfrm>
            <a:off x="4800600" y="1600200"/>
            <a:ext cx="1280160" cy="1371600"/>
          </a:xfrm>
          <a:prstGeom prst="roundRect">
            <a:avLst>
              <a:gd name="adj" fmla="val 7143"/>
            </a:avLst>
          </a:prstGeom>
          <a:solidFill>
            <a:srgbClr val="F2A93B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Step text 4"/>
          <p:cNvSpPr txBox="1"/>
          <p:nvPr/>
        </p:nvSpPr>
        <p:spPr>
          <a:xfrm>
            <a:off x="4800600" y="1600200"/>
            <a:ext cx="128016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Trivy, Gitleaks</a:t>
            </a:r>
            <a:endParaRPr lang="en-US" sz="1600" dirty="0"/>
          </a:p>
        </p:txBody>
      </p:sp>
      <p:sp>
        <p:nvSpPr>
          <p:cNvPr id="11" name="Step 5"/>
          <p:cNvSpPr/>
          <p:nvPr/>
        </p:nvSpPr>
        <p:spPr>
          <a:xfrm>
            <a:off x="6217920" y="1600200"/>
            <a:ext cx="1280160" cy="1371600"/>
          </a:xfrm>
          <a:prstGeom prst="roundRect">
            <a:avLst>
              <a:gd name="adj" fmla="val 7143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tep text 5"/>
          <p:cNvSpPr txBox="1"/>
          <p:nvPr/>
        </p:nvSpPr>
        <p:spPr>
          <a:xfrm>
            <a:off x="6217920" y="1600200"/>
            <a:ext cx="128016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= commit SHA</a:t>
            </a:r>
            <a:endParaRPr lang="en-US" sz="1600" dirty="0"/>
          </a:p>
        </p:txBody>
      </p:sp>
      <p:sp>
        <p:nvSpPr>
          <p:cNvPr id="13" name="Step 6"/>
          <p:cNvSpPr/>
          <p:nvPr/>
        </p:nvSpPr>
        <p:spPr>
          <a:xfrm>
            <a:off x="7635240" y="1600200"/>
            <a:ext cx="1280160" cy="137160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tep text 6"/>
          <p:cNvSpPr txBox="1"/>
          <p:nvPr/>
        </p:nvSpPr>
        <p:spPr>
          <a:xfrm>
            <a:off x="7635240" y="1600200"/>
            <a:ext cx="128016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</a:t>
            </a:r>
            <a:endParaRPr lang="en-US" sz="1600" dirty="0"/>
          </a:p>
        </p:txBody>
      </p:sp>
      <p:sp>
        <p:nvSpPr>
          <p:cNvPr id="15" name="Step 7"/>
          <p:cNvSpPr/>
          <p:nvPr/>
        </p:nvSpPr>
        <p:spPr>
          <a:xfrm>
            <a:off x="9052560" y="1600200"/>
            <a:ext cx="1280160" cy="1371600"/>
          </a:xfrm>
          <a:prstGeom prst="roundRect">
            <a:avLst>
              <a:gd name="adj" fmla="val 7143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tep text 7"/>
          <p:cNvSpPr txBox="1"/>
          <p:nvPr/>
        </p:nvSpPr>
        <p:spPr>
          <a:xfrm>
            <a:off x="9052560" y="1600200"/>
            <a:ext cx="128016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upgrade</a:t>
            </a:r>
            <a:endParaRPr lang="en-US" sz="1600" dirty="0"/>
          </a:p>
        </p:txBody>
      </p:sp>
      <p:sp>
        <p:nvSpPr>
          <p:cNvPr id="17" name="Step 8"/>
          <p:cNvSpPr/>
          <p:nvPr/>
        </p:nvSpPr>
        <p:spPr>
          <a:xfrm>
            <a:off x="10469880" y="1600200"/>
            <a:ext cx="1280160" cy="137160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Step text 8"/>
          <p:cNvSpPr txBox="1"/>
          <p:nvPr/>
        </p:nvSpPr>
        <p:spPr>
          <a:xfrm>
            <a:off x="10469880" y="1600200"/>
            <a:ext cx="128016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1600" dirty="0"/>
          </a:p>
        </p:txBody>
      </p:sp>
      <p:sp>
        <p:nvSpPr>
          <p:cNvPr id="19" name="Terraform note"/>
          <p:cNvSpPr txBox="1"/>
          <p:nvPr/>
        </p:nvSpPr>
        <p:spPr>
          <a:xfrm>
            <a:off x="548640" y="31546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provisions the AWS VPC + EKS cluster that Helm deploys into.</a:t>
            </a:r>
            <a:endParaRPr lang="en-US" sz="1500" dirty="0"/>
          </a:p>
        </p:txBody>
      </p:sp>
      <p:sp>
        <p:nvSpPr>
          <p:cNvPr id="20" name="Runtime heading"/>
          <p:cNvSpPr txBox="1"/>
          <p:nvPr/>
        </p:nvSpPr>
        <p:spPr>
          <a:xfrm>
            <a:off x="548640" y="3840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cluster</a:t>
            </a:r>
            <a:endParaRPr lang="en-US" sz="2200" dirty="0"/>
          </a:p>
        </p:txBody>
      </p:sp>
      <p:sp>
        <p:nvSpPr>
          <p:cNvPr id="21" name="Runtime box 1"/>
          <p:cNvSpPr/>
          <p:nvPr/>
        </p:nvSpPr>
        <p:spPr>
          <a:xfrm>
            <a:off x="548640" y="4434840"/>
            <a:ext cx="1965960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rgbClr val="1FBF9A"/>
            </a:solidFill>
            <a:prstDash val="solid"/>
          </a:ln>
        </p:spPr>
      </p:sp>
      <p:sp>
        <p:nvSpPr>
          <p:cNvPr id="22" name="Runtime text 1"/>
          <p:cNvSpPr txBox="1"/>
          <p:nvPr/>
        </p:nvSpPr>
        <p:spPr>
          <a:xfrm>
            <a:off x="548640" y="4434840"/>
            <a:ext cx="196596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</p:txBody>
      </p:sp>
      <p:sp>
        <p:nvSpPr>
          <p:cNvPr id="23" name="Runtime box 2"/>
          <p:cNvSpPr/>
          <p:nvPr/>
        </p:nvSpPr>
        <p:spPr>
          <a:xfrm>
            <a:off x="2834640" y="4434840"/>
            <a:ext cx="1965960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rgbClr val="1FBF9A"/>
            </a:solidFill>
            <a:prstDash val="solid"/>
          </a:ln>
        </p:spPr>
      </p:sp>
      <p:sp>
        <p:nvSpPr>
          <p:cNvPr id="24" name="Runtime text 2"/>
          <p:cNvSpPr txBox="1"/>
          <p:nvPr/>
        </p:nvSpPr>
        <p:spPr>
          <a:xfrm>
            <a:off x="2834640" y="4434840"/>
            <a:ext cx="196596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and /api</a:t>
            </a:r>
            <a:endParaRPr lang="en-US" sz="1700" dirty="0"/>
          </a:p>
        </p:txBody>
      </p:sp>
      <p:sp>
        <p:nvSpPr>
          <p:cNvPr id="25" name="Runtime box 3"/>
          <p:cNvSpPr/>
          <p:nvPr/>
        </p:nvSpPr>
        <p:spPr>
          <a:xfrm>
            <a:off x="5120640" y="4434840"/>
            <a:ext cx="1965960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rgbClr val="1FBF9A"/>
            </a:solidFill>
            <a:prstDash val="solid"/>
          </a:ln>
        </p:spPr>
      </p:sp>
      <p:sp>
        <p:nvSpPr>
          <p:cNvPr id="26" name="Runtime text 3"/>
          <p:cNvSpPr txBox="1"/>
          <p:nvPr/>
        </p:nvSpPr>
        <p:spPr>
          <a:xfrm>
            <a:off x="5120640" y="4434840"/>
            <a:ext cx="196596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nginx, 2 pods</a:t>
            </a:r>
            <a:endParaRPr lang="en-US" sz="1700" dirty="0"/>
          </a:p>
        </p:txBody>
      </p:sp>
      <p:sp>
        <p:nvSpPr>
          <p:cNvPr id="27" name="Runtime box 4"/>
          <p:cNvSpPr/>
          <p:nvPr/>
        </p:nvSpPr>
        <p:spPr>
          <a:xfrm>
            <a:off x="7406640" y="4434840"/>
            <a:ext cx="1965960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rgbClr val="1FBF9A"/>
            </a:solidFill>
            <a:prstDash val="solid"/>
          </a:ln>
        </p:spPr>
      </p:sp>
      <p:sp>
        <p:nvSpPr>
          <p:cNvPr id="28" name="Runtime text 4"/>
          <p:cNvSpPr txBox="1"/>
          <p:nvPr/>
        </p:nvSpPr>
        <p:spPr>
          <a:xfrm>
            <a:off x="7406640" y="4434840"/>
            <a:ext cx="196596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2-5 pods</a:t>
            </a:r>
            <a:endParaRPr lang="en-US" sz="1700" dirty="0"/>
          </a:p>
        </p:txBody>
      </p:sp>
      <p:sp>
        <p:nvSpPr>
          <p:cNvPr id="29" name="Runtime box 5"/>
          <p:cNvSpPr/>
          <p:nvPr/>
        </p:nvSpPr>
        <p:spPr>
          <a:xfrm>
            <a:off x="9692640" y="4434840"/>
            <a:ext cx="1965960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rgbClr val="1FBF9A"/>
            </a:solidFill>
            <a:prstDash val="solid"/>
          </a:ln>
        </p:spPr>
      </p:sp>
      <p:sp>
        <p:nvSpPr>
          <p:cNvPr id="30" name="Runtime text 5"/>
          <p:cNvSpPr txBox="1"/>
          <p:nvPr/>
        </p:nvSpPr>
        <p:spPr>
          <a:xfrm>
            <a:off x="9692640" y="4434840"/>
            <a:ext cx="196596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PVC storage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A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application, not a static page</a:t>
            </a:r>
            <a:endParaRPr lang="en-US" sz="3600" dirty="0"/>
          </a:p>
        </p:txBody>
      </p:sp>
      <p:sp>
        <p:nvSpPr>
          <p:cNvPr id="3" name="Points"/>
          <p:cNvSpPr txBox="1"/>
          <p:nvPr/>
        </p:nvSpPr>
        <p:spPr>
          <a:xfrm>
            <a:off x="548640" y="1554480"/>
            <a:ext cx="3931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dashboard: KPI cards, filters, priority badges, create-ticket modal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REST API: create, read, update, delete and stats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with Alembic migrations; data survives restarts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that shows loading and error states</a:t>
            </a:r>
            <a:endParaRPr lang="en-US" sz="1800" dirty="0"/>
          </a:p>
        </p:txBody>
      </p:sp>
      <p:sp>
        <p:nvSpPr>
          <p:cNvPr id="4" name="Dashboard screenshot frame"/>
          <p:cNvSpPr/>
          <p:nvPr/>
        </p:nvSpPr>
        <p:spPr>
          <a:xfrm>
            <a:off x="4700016" y="1599124"/>
            <a:ext cx="7059168" cy="4299832"/>
          </a:xfrm>
          <a:prstGeom prst="rect">
            <a:avLst/>
          </a:prstGeom>
          <a:solidFill>
            <a:schemeClr val="bg1"/>
          </a:solidFill>
          <a:ln w="9525">
            <a:solidFill>
              <a:srgbClr val="CBD8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Dashboard screenshot" descr="/Users/subhanrahiman/Desktop/final-devops-project/docs/screenshots/03-app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653988"/>
            <a:ext cx="6949440" cy="419010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A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command starts the whole stack</a:t>
            </a:r>
            <a:endParaRPr lang="en-US" sz="3600" dirty="0"/>
          </a:p>
        </p:txBody>
      </p:sp>
      <p:sp>
        <p:nvSpPr>
          <p:cNvPr id="3" name="Proof tag"/>
          <p:cNvSpPr txBox="1"/>
          <p:nvPr/>
        </p:nvSpPr>
        <p:spPr>
          <a:xfrm>
            <a:off x="548640" y="1371600"/>
            <a:ext cx="2926080" cy="347472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1 - Docker Compose</a:t>
            </a:r>
            <a:endParaRPr lang="en-US" sz="1200" dirty="0"/>
          </a:p>
        </p:txBody>
      </p:sp>
      <p:sp>
        <p:nvSpPr>
          <p:cNvPr id="4" name="Points"/>
          <p:cNvSpPr txBox="1"/>
          <p:nvPr/>
        </p:nvSpPr>
        <p:spPr>
          <a:xfrm>
            <a:off x="548640" y="1920240"/>
            <a:ext cx="39319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--build starts frontend, backend and PostgreSQL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 containers run as non-root users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is a multi-stage build: Node, then nginx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/health, /ready and /metrics answer on the backend</a:t>
            </a:r>
            <a:endParaRPr lang="en-US" sz="1800" dirty="0"/>
          </a:p>
        </p:txBody>
      </p:sp>
      <p:sp>
        <p:nvSpPr>
          <p:cNvPr id="5" name="Compose screenshot frame"/>
          <p:cNvSpPr/>
          <p:nvPr/>
        </p:nvSpPr>
        <p:spPr>
          <a:xfrm>
            <a:off x="4700016" y="1467196"/>
            <a:ext cx="7059168" cy="4563687"/>
          </a:xfrm>
          <a:prstGeom prst="rect">
            <a:avLst/>
          </a:prstGeom>
          <a:solidFill>
            <a:schemeClr val="bg1"/>
          </a:solidFill>
          <a:ln w="9525">
            <a:solidFill>
              <a:srgbClr val="CBD8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Compose screenshot" descr="/Users/subhanrahiman/Desktop/final-devops-project/docs/screenshots/02-compose-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522060"/>
            <a:ext cx="6949440" cy="445395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A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CI/CD: every push is tested, scanned and shipped</a:t>
            </a:r>
            <a:endParaRPr lang="en-US" sz="3600" dirty="0"/>
          </a:p>
        </p:txBody>
      </p:sp>
      <p:sp>
        <p:nvSpPr>
          <p:cNvPr id="3" name="Proof tag"/>
          <p:cNvSpPr txBox="1"/>
          <p:nvPr/>
        </p:nvSpPr>
        <p:spPr>
          <a:xfrm>
            <a:off x="548640" y="1371600"/>
            <a:ext cx="2926080" cy="347472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2 - CI/CD pipeline</a:t>
            </a:r>
            <a:endParaRPr lang="en-US" sz="1200" dirty="0"/>
          </a:p>
        </p:txBody>
      </p:sp>
      <p:sp>
        <p:nvSpPr>
          <p:cNvPr id="4" name="Points"/>
          <p:cNvSpPr txBox="1"/>
          <p:nvPr/>
        </p:nvSpPr>
        <p:spPr>
          <a:xfrm>
            <a:off x="548640" y="1920240"/>
            <a:ext cx="3931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and the frontend build run first; a red test stops everything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images are built, scanned with Trivy, then pushed to GHCR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tag is the Git commit SHA, never latest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Helm chart is deployed to a kind cluster and smoke-tested</a:t>
            </a:r>
            <a:endParaRPr lang="en-US" sz="1800" dirty="0"/>
          </a:p>
        </p:txBody>
      </p:sp>
      <p:sp>
        <p:nvSpPr>
          <p:cNvPr id="5" name="Actions screenshot frame"/>
          <p:cNvSpPr/>
          <p:nvPr/>
        </p:nvSpPr>
        <p:spPr>
          <a:xfrm>
            <a:off x="4793488" y="1316736"/>
            <a:ext cx="6872224" cy="4864608"/>
          </a:xfrm>
          <a:prstGeom prst="rect">
            <a:avLst/>
          </a:prstGeom>
          <a:solidFill>
            <a:schemeClr val="bg1"/>
          </a:solidFill>
          <a:ln w="9525">
            <a:solidFill>
              <a:srgbClr val="CBD8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Actions screenshot" descr="/Users/subhanrahiman/Desktop/final-devops-project/docs/screenshots/19-github-actions-ru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8352" y="1371600"/>
            <a:ext cx="6762496" cy="4754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A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security gate caught a real problem</a:t>
            </a:r>
            <a:endParaRPr lang="en-US" sz="3600" dirty="0"/>
          </a:p>
        </p:txBody>
      </p:sp>
      <p:sp>
        <p:nvSpPr>
          <p:cNvPr id="3" name="Stat fixable HIGH/CRITICAL CVEs in the old nginx base image"/>
          <p:cNvSpPr txBox="1"/>
          <p:nvPr/>
        </p:nvSpPr>
        <p:spPr>
          <a:xfrm>
            <a:off x="548640" y="1463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4400" dirty="0"/>
          </a:p>
        </p:txBody>
      </p:sp>
      <p:sp>
        <p:nvSpPr>
          <p:cNvPr id="4" name="Stat label fixable HIGH/CRITICAL CVEs in the old nginx base image"/>
          <p:cNvSpPr txBox="1"/>
          <p:nvPr/>
        </p:nvSpPr>
        <p:spPr>
          <a:xfrm>
            <a:off x="54864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fixable HIGH/CRITICAL CVEs in the old nginx base image</a:t>
            </a:r>
            <a:endParaRPr lang="en-US" sz="1400" dirty="0"/>
          </a:p>
        </p:txBody>
      </p:sp>
      <p:sp>
        <p:nvSpPr>
          <p:cNvPr id="5" name="Stat after moving to a current base and apk upgrade"/>
          <p:cNvSpPr txBox="1"/>
          <p:nvPr/>
        </p:nvSpPr>
        <p:spPr>
          <a:xfrm>
            <a:off x="548640" y="30175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B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6" name="Stat label after moving to a current base and apk upgrade"/>
          <p:cNvSpPr txBox="1"/>
          <p:nvPr/>
        </p:nvSpPr>
        <p:spPr>
          <a:xfrm>
            <a:off x="548640" y="3840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moving to a current base and apk upgrade</a:t>
            </a:r>
            <a:endParaRPr lang="en-US" sz="1400" dirty="0"/>
          </a:p>
        </p:txBody>
      </p:sp>
      <p:sp>
        <p:nvSpPr>
          <p:cNvPr id="7" name="Gate explanation"/>
          <p:cNvSpPr txBox="1"/>
          <p:nvPr/>
        </p:nvSpPr>
        <p:spPr>
          <a:xfrm>
            <a:off x="548640" y="46634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pipeline runs went red, so no vulnerable image was published. That is the gate doing its job.</a:t>
            </a:r>
            <a:endParaRPr lang="en-US" sz="1600" dirty="0"/>
          </a:p>
        </p:txBody>
      </p:sp>
      <p:sp>
        <p:nvSpPr>
          <p:cNvPr id="8" name="Trivy screenshot frame"/>
          <p:cNvSpPr/>
          <p:nvPr/>
        </p:nvSpPr>
        <p:spPr>
          <a:xfrm>
            <a:off x="4791456" y="2156155"/>
            <a:ext cx="6876288" cy="2545690"/>
          </a:xfrm>
          <a:prstGeom prst="rect">
            <a:avLst/>
          </a:prstGeom>
          <a:solidFill>
            <a:schemeClr val="bg1"/>
          </a:solidFill>
          <a:ln w="9525">
            <a:solidFill>
              <a:srgbClr val="CBD8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Trivy screenshot" descr="/Users/subhanrahiman/Desktop/final-devops-project/docs/screenshots/24-trivy-s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2211019"/>
            <a:ext cx="6766560" cy="24359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 base</a:t>
            </a:r>
            <a:endParaRPr lang="en-US" sz="3600" dirty="0"/>
          </a:p>
        </p:txBody>
      </p:sp>
      <p:sp>
        <p:nvSpPr>
          <p:cNvPr id="3" name="Proof tag"/>
          <p:cNvSpPr txBox="1"/>
          <p:nvPr/>
        </p:nvSpPr>
        <p:spPr>
          <a:xfrm>
            <a:off x="548640" y="1371600"/>
            <a:ext cx="2926080" cy="347472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3 - Main repository</a:t>
            </a:r>
            <a:endParaRPr lang="en-US" sz="1200" dirty="0"/>
          </a:p>
        </p:txBody>
      </p:sp>
      <p:sp>
        <p:nvSpPr>
          <p:cNvPr id="4" name="Points"/>
          <p:cNvSpPr txBox="1"/>
          <p:nvPr/>
        </p:nvSpPr>
        <p:spPr>
          <a:xfrm>
            <a:off x="548640" y="1920240"/>
            <a:ext cx="3931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backend/, frontend/, docker-compose.yml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terraform/, helm/, k8s/, monitoring/, troubleshooting/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 with the CI/CD pipeline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commits with descriptive messages; no secrets in Git</a:t>
            </a:r>
            <a:endParaRPr lang="en-US" sz="1800" dirty="0"/>
          </a:p>
        </p:txBody>
      </p:sp>
      <p:sp>
        <p:nvSpPr>
          <p:cNvPr id="5" name="Repository screenshot frame"/>
          <p:cNvSpPr/>
          <p:nvPr/>
        </p:nvSpPr>
        <p:spPr>
          <a:xfrm>
            <a:off x="5340096" y="1271016"/>
            <a:ext cx="5961888" cy="5138928"/>
          </a:xfrm>
          <a:prstGeom prst="rect">
            <a:avLst/>
          </a:prstGeom>
          <a:solidFill>
            <a:schemeClr val="bg1"/>
          </a:solidFill>
          <a:ln w="9525">
            <a:solidFill>
              <a:srgbClr val="CBD8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Repository screenshot" descr="/Users/subhanrahiman/Desktop/final-devops-project/docs/screenshots/20-github-rep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325880"/>
            <a:ext cx="5852160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A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and Helm</a:t>
            </a:r>
            <a:endParaRPr lang="en-US" sz="3600" dirty="0"/>
          </a:p>
        </p:txBody>
      </p:sp>
      <p:sp>
        <p:nvSpPr>
          <p:cNvPr id="3" name="Proof tag"/>
          <p:cNvSpPr txBox="1"/>
          <p:nvPr/>
        </p:nvSpPr>
        <p:spPr>
          <a:xfrm>
            <a:off x="548640" y="1371600"/>
            <a:ext cx="3291840" cy="347472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4 - Kubernetes deployment</a:t>
            </a:r>
            <a:endParaRPr lang="en-US" sz="1200" dirty="0"/>
          </a:p>
        </p:txBody>
      </p:sp>
      <p:sp>
        <p:nvSpPr>
          <p:cNvPr id="4" name="Points"/>
          <p:cNvSpPr txBox="1"/>
          <p:nvPr/>
        </p:nvSpPr>
        <p:spPr>
          <a:xfrm>
            <a:off x="548640" y="1920240"/>
            <a:ext cx="3931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Helm chart, dev and prod values, helm test, rollback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replicas each for frontend and backend, ClusterIP Services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sends / to the frontend and /api to the backend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Probes, resource limits, PVC for PostgreSQL, non-root</a:t>
            </a:r>
            <a:endParaRPr lang="en-US" sz="1800" dirty="0"/>
          </a:p>
        </p:txBody>
      </p:sp>
      <p:sp>
        <p:nvSpPr>
          <p:cNvPr id="5" name="Kubernetes screenshot frame"/>
          <p:cNvSpPr/>
          <p:nvPr/>
        </p:nvSpPr>
        <p:spPr>
          <a:xfrm>
            <a:off x="4700016" y="1987241"/>
            <a:ext cx="3950208" cy="3615039"/>
          </a:xfrm>
          <a:prstGeom prst="rect">
            <a:avLst/>
          </a:prstGeom>
          <a:solidFill>
            <a:schemeClr val="bg1"/>
          </a:solidFill>
          <a:ln w="9525">
            <a:solidFill>
              <a:srgbClr val="CBD8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6" name="Kubernetes screenshot" descr="/Users/subhanrahiman/Desktop/final-devops-project/docs/screenshots/05-kubernetes-he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2042105"/>
            <a:ext cx="3840480" cy="3505311"/>
          </a:xfrm>
          <a:prstGeom prst="rect">
            <a:avLst/>
          </a:prstGeom>
        </p:spPr>
      </p:pic>
      <p:sp>
        <p:nvSpPr>
          <p:cNvPr id="7" name="Ingress screenshot frame"/>
          <p:cNvSpPr/>
          <p:nvPr/>
        </p:nvSpPr>
        <p:spPr>
          <a:xfrm>
            <a:off x="8677656" y="1687202"/>
            <a:ext cx="3127248" cy="1929115"/>
          </a:xfrm>
          <a:prstGeom prst="rect">
            <a:avLst/>
          </a:prstGeom>
          <a:solidFill>
            <a:schemeClr val="bg1"/>
          </a:solidFill>
          <a:ln w="9525">
            <a:solidFill>
              <a:srgbClr val="CBD8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8" name="Ingress screenshot" descr="/Users/subhanrahiman/Desktop/final-devops-project/docs/screenshots/06-app-via-ingr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742066"/>
            <a:ext cx="3017520" cy="1819387"/>
          </a:xfrm>
          <a:prstGeom prst="rect">
            <a:avLst/>
          </a:prstGeom>
        </p:spPr>
      </p:pic>
      <p:sp>
        <p:nvSpPr>
          <p:cNvPr id="9" name="Ingress caption"/>
          <p:cNvSpPr txBox="1"/>
          <p:nvPr/>
        </p:nvSpPr>
        <p:spPr>
          <a:xfrm>
            <a:off x="8732520" y="4023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app, opened through the Ingress hostname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A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Autoscaling and monitoring</a:t>
            </a:r>
            <a:endParaRPr lang="en-US" sz="3600" dirty="0"/>
          </a:p>
        </p:txBody>
      </p:sp>
      <p:sp>
        <p:nvSpPr>
          <p:cNvPr id="3" name="Stat backend pods under load (HPA, 60% CPU target)"/>
          <p:cNvSpPr txBox="1"/>
          <p:nvPr/>
        </p:nvSpPr>
        <p:spPr>
          <a:xfrm>
            <a:off x="548640" y="1463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&gt; 5</a:t>
            </a:r>
            <a:endParaRPr lang="en-US" sz="4400" dirty="0"/>
          </a:p>
        </p:txBody>
      </p:sp>
      <p:sp>
        <p:nvSpPr>
          <p:cNvPr id="4" name="Stat label backend pods under load (HPA, 60% CPU target)"/>
          <p:cNvSpPr txBox="1"/>
          <p:nvPr/>
        </p:nvSpPr>
        <p:spPr>
          <a:xfrm>
            <a:off x="54864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pods under load (HPA, 60% CPU target)</a:t>
            </a:r>
            <a:endParaRPr lang="en-US" sz="1400" dirty="0"/>
          </a:p>
        </p:txBody>
      </p:sp>
      <p:sp>
        <p:nvSpPr>
          <p:cNvPr id="5" name="Stat Prometheus scrapes both backend pods"/>
          <p:cNvSpPr txBox="1"/>
          <p:nvPr/>
        </p:nvSpPr>
        <p:spPr>
          <a:xfrm>
            <a:off x="548640" y="30175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</a:t>
            </a:r>
            <a:endParaRPr lang="en-US" sz="4400" dirty="0"/>
          </a:p>
        </p:txBody>
      </p:sp>
      <p:sp>
        <p:nvSpPr>
          <p:cNvPr id="6" name="Stat label Prometheus scrapes both backend pods"/>
          <p:cNvSpPr txBox="1"/>
          <p:nvPr/>
        </p:nvSpPr>
        <p:spPr>
          <a:xfrm>
            <a:off x="548640" y="3840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scrapes both backend pods</a:t>
            </a:r>
            <a:endParaRPr lang="en-US" sz="1400" dirty="0"/>
          </a:p>
        </p:txBody>
      </p:sp>
      <p:sp>
        <p:nvSpPr>
          <p:cNvPr id="7" name="Monitoring text"/>
          <p:cNvSpPr txBox="1"/>
          <p:nvPr/>
        </p:nvSpPr>
        <p:spPr>
          <a:xfrm>
            <a:off x="548640" y="457200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shows requests per second, latency, errors, CPU per pod and the replica count live.</a:t>
            </a:r>
            <a:endParaRPr lang="en-US" sz="1600" dirty="0"/>
          </a:p>
        </p:txBody>
      </p:sp>
      <p:sp>
        <p:nvSpPr>
          <p:cNvPr id="8" name="Grafana screenshot frame"/>
          <p:cNvSpPr/>
          <p:nvPr/>
        </p:nvSpPr>
        <p:spPr>
          <a:xfrm>
            <a:off x="4700016" y="1423416"/>
            <a:ext cx="7059168" cy="4742688"/>
          </a:xfrm>
          <a:prstGeom prst="rect">
            <a:avLst/>
          </a:prstGeom>
          <a:solidFill>
            <a:schemeClr val="bg1"/>
          </a:solidFill>
          <a:ln w="9525">
            <a:solidFill>
              <a:srgbClr val="CBD8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Grafana screenshot" descr="/Users/subhanrahiman/Desktop/final-devops-project/docs/screenshots/12-grafana-under-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478280"/>
            <a:ext cx="6949440" cy="4632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A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Terraform: AWS VPC and EKS as code</a:t>
            </a:r>
            <a:endParaRPr lang="en-US" sz="3600" dirty="0"/>
          </a:p>
        </p:txBody>
      </p:sp>
      <p:sp>
        <p:nvSpPr>
          <p:cNvPr id="3" name="Points"/>
          <p:cNvSpPr txBox="1"/>
          <p:nvPr/>
        </p:nvSpPr>
        <p:spPr>
          <a:xfrm>
            <a:off x="548640" y="1554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with 2 public and 2 private subnets, NAT, EKS and a node group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resources; KMS key encrypts Kubernetes Secrets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Planned, applied and destroyed cleanly; state ends empty</a:t>
            </a:r>
            <a:endParaRPr lang="en-US" sz="1800" dirty="0"/>
          </a:p>
        </p:txBody>
      </p:sp>
      <p:sp>
        <p:nvSpPr>
          <p:cNvPr id="4" name="Honest note box"/>
          <p:cNvSpPr/>
          <p:nvPr/>
        </p:nvSpPr>
        <p:spPr>
          <a:xfrm>
            <a:off x="548640" y="457200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4DC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5" name="Honest note"/>
          <p:cNvSpPr txBox="1"/>
          <p:nvPr/>
        </p:nvSpPr>
        <p:spPr>
          <a:xfrm>
            <a:off x="731520" y="46177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note: run against the Moto AWS emulator, because my AWS account is blocked. The code is unchanged for real AWS.</a:t>
            </a:r>
            <a:endParaRPr lang="en-US" sz="1400" dirty="0"/>
          </a:p>
        </p:txBody>
      </p:sp>
      <p:sp>
        <p:nvSpPr>
          <p:cNvPr id="6" name="Terraform screenshot frame"/>
          <p:cNvSpPr/>
          <p:nvPr/>
        </p:nvSpPr>
        <p:spPr>
          <a:xfrm>
            <a:off x="4870005" y="1225296"/>
            <a:ext cx="6719190" cy="5138928"/>
          </a:xfrm>
          <a:prstGeom prst="rect">
            <a:avLst/>
          </a:prstGeom>
          <a:solidFill>
            <a:schemeClr val="bg1"/>
          </a:solidFill>
          <a:ln w="9525">
            <a:solidFill>
              <a:srgbClr val="CBD8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Terraform screenshot" descr="/Users/subhanrahiman/Desktop/final-devops-project/docs/screenshots/17-terraform-apply-verif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4869" y="1280160"/>
            <a:ext cx="6609462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A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Troubleshooting: find, fix, verify</a:t>
            </a:r>
            <a:endParaRPr lang="en-US" sz="3600" dirty="0"/>
          </a:p>
        </p:txBody>
      </p:sp>
      <p:sp>
        <p:nvSpPr>
          <p:cNvPr id="3" name="Lab card 1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Lab title 1"/>
          <p:cNvSpPr txBox="1"/>
          <p:nvPr/>
        </p:nvSpPr>
        <p:spPr>
          <a:xfrm>
            <a:off x="82296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1: broken image</a:t>
            </a:r>
            <a:endParaRPr lang="en-US" sz="2200" dirty="0"/>
          </a:p>
        </p:txBody>
      </p:sp>
      <p:sp>
        <p:nvSpPr>
          <p:cNvPr id="5" name="Lab text 1"/>
          <p:cNvSpPr txBox="1"/>
          <p:nvPr/>
        </p:nvSpPr>
        <p:spPr>
          <a:xfrm>
            <a:off x="822960" y="201168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Pod: ErrImagePull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describe pod, get events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tag does not exist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set image with a real tag</a:t>
            </a:r>
            <a:endParaRPr lang="en-US" sz="1400" dirty="0"/>
          </a:p>
        </p:txBody>
      </p:sp>
      <p:sp>
        <p:nvSpPr>
          <p:cNvPr id="6" name="Lab screenshot 1 frame"/>
          <p:cNvSpPr/>
          <p:nvPr/>
        </p:nvSpPr>
        <p:spPr>
          <a:xfrm>
            <a:off x="1849755" y="3785616"/>
            <a:ext cx="2792729" cy="2258568"/>
          </a:xfrm>
          <a:prstGeom prst="rect">
            <a:avLst/>
          </a:prstGeom>
          <a:solidFill>
            <a:schemeClr val="bg1"/>
          </a:solidFill>
          <a:ln w="9525">
            <a:solidFill>
              <a:srgbClr val="CBD8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Lab screenshot 1" descr="/Users/subhanrahiman/Desktop/final-devops-project/docs/screenshots/13-troubleshoot-broken-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4619" y="3840480"/>
            <a:ext cx="2683001" cy="2148840"/>
          </a:xfrm>
          <a:prstGeom prst="rect">
            <a:avLst/>
          </a:prstGeom>
        </p:spPr>
      </p:pic>
      <p:sp>
        <p:nvSpPr>
          <p:cNvPr id="8" name="Lab card 2"/>
          <p:cNvSpPr/>
          <p:nvPr/>
        </p:nvSpPr>
        <p:spPr>
          <a:xfrm>
            <a:off x="6217920" y="1371600"/>
            <a:ext cx="5394960" cy="4754880"/>
          </a:xfrm>
          <a:prstGeom prst="roundRect">
            <a:avLst>
              <a:gd name="adj" fmla="val 23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Lab title 2"/>
          <p:cNvSpPr txBox="1"/>
          <p:nvPr/>
        </p:nvSpPr>
        <p:spPr>
          <a:xfrm>
            <a:off x="649224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2: broken Service</a:t>
            </a:r>
            <a:endParaRPr lang="en-US" sz="2200" dirty="0"/>
          </a:p>
        </p:txBody>
      </p:sp>
      <p:sp>
        <p:nvSpPr>
          <p:cNvPr id="10" name="Lab text 2"/>
          <p:cNvSpPr txBox="1"/>
          <p:nvPr/>
        </p:nvSpPr>
        <p:spPr>
          <a:xfrm>
            <a:off x="6492240" y="201168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Running, no traffic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endpoints shows &lt;none&gt;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selector does not match the pod labels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the selector to app=lab-api</a:t>
            </a:r>
            <a:endParaRPr lang="en-US" sz="1400" dirty="0"/>
          </a:p>
        </p:txBody>
      </p:sp>
      <p:sp>
        <p:nvSpPr>
          <p:cNvPr id="11" name="Lab screenshot 2 frame"/>
          <p:cNvSpPr/>
          <p:nvPr/>
        </p:nvSpPr>
        <p:spPr>
          <a:xfrm>
            <a:off x="7301351" y="3785616"/>
            <a:ext cx="3228097" cy="2258568"/>
          </a:xfrm>
          <a:prstGeom prst="rect">
            <a:avLst/>
          </a:prstGeom>
          <a:solidFill>
            <a:schemeClr val="bg1"/>
          </a:solidFill>
          <a:ln w="9525">
            <a:solidFill>
              <a:srgbClr val="CBD8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12" name="Lab screenshot 2" descr="/Users/subhanrahiman/Desktop/final-devops-project/docs/screenshots/14-troubleshoot-broken-serv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6215" y="3840480"/>
            <a:ext cx="3118369" cy="2148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A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tools, and not the alternatives</a:t>
            </a:r>
            <a:endParaRPr lang="en-US" sz="3600" dirty="0"/>
          </a:p>
        </p:txBody>
      </p:sp>
      <p:graphicFrame>
        <p:nvGraphicFramePr>
          <p:cNvPr id="15" name="Alternativ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2468880"/>
                <a:gridCol w="384048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chose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Instead of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A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Because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3A3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containers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E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 / ECS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self-healing, rolling updates, autoscaling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the deployment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C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E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C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YAML files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C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chart, dev/prod values, rollback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CE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images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E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GHCR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Hub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lives with the repo, uses the built-in token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infrastructure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C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E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C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console clicks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C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repeatable, reviewable, destroy cleans up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CE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E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+ Grafana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CloudWatch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E1F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source, works on any cluster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8A9A9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</a:t>
            </a:r>
            <a:endParaRPr lang="en-US" sz="3600" dirty="0"/>
          </a:p>
        </p:txBody>
      </p:sp>
      <p:pic>
        <p:nvPicPr>
          <p:cNvPr id="3" name="Check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36192"/>
            <a:ext cx="384048" cy="384048"/>
          </a:xfrm>
          <a:prstGeom prst="rect">
            <a:avLst/>
          </a:prstGeom>
        </p:spPr>
      </p:pic>
      <p:sp>
        <p:nvSpPr>
          <p:cNvPr id="4" name="Lesson 1"/>
          <p:cNvSpPr txBox="1"/>
          <p:nvPr/>
        </p:nvSpPr>
        <p:spPr>
          <a:xfrm>
            <a:off x="1143000" y="14630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find real problems: Trivy found 42 CVEs I would have shipped.</a:t>
            </a:r>
            <a:endParaRPr lang="en-US" sz="2000" dirty="0"/>
          </a:p>
        </p:txBody>
      </p:sp>
      <p:pic>
        <p:nvPicPr>
          <p:cNvPr id="5" name="Check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96312"/>
            <a:ext cx="384048" cy="384048"/>
          </a:xfrm>
          <a:prstGeom prst="rect">
            <a:avLst/>
          </a:prstGeom>
        </p:spPr>
      </p:pic>
      <p:sp>
        <p:nvSpPr>
          <p:cNvPr id="6" name="Lesson 2"/>
          <p:cNvSpPr txBox="1"/>
          <p:nvPr/>
        </p:nvSpPr>
        <p:spPr>
          <a:xfrm>
            <a:off x="1143000" y="24231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 race: start-up work such as migrations must be safe in parallel.</a:t>
            </a:r>
            <a:endParaRPr lang="en-US" sz="2000" dirty="0"/>
          </a:p>
        </p:txBody>
      </p:sp>
      <p:pic>
        <p:nvPicPr>
          <p:cNvPr id="7" name="Check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56432"/>
            <a:ext cx="384048" cy="384048"/>
          </a:xfrm>
          <a:prstGeom prst="rect">
            <a:avLst/>
          </a:prstGeom>
        </p:spPr>
      </p:pic>
      <p:sp>
        <p:nvSpPr>
          <p:cNvPr id="8" name="Lesson 3"/>
          <p:cNvSpPr txBox="1"/>
          <p:nvPr/>
        </p:nvSpPr>
        <p:spPr>
          <a:xfrm>
            <a:off x="1143000" y="33832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has consequences: dropping all capabilities broke PostgreSQL until it ran as the right user.</a:t>
            </a:r>
            <a:endParaRPr lang="en-US" sz="2000" dirty="0"/>
          </a:p>
        </p:txBody>
      </p:sp>
      <p:pic>
        <p:nvPicPr>
          <p:cNvPr id="9" name="Check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16552"/>
            <a:ext cx="384048" cy="384048"/>
          </a:xfrm>
          <a:prstGeom prst="rect">
            <a:avLst/>
          </a:prstGeom>
        </p:spPr>
      </p:pic>
      <p:sp>
        <p:nvSpPr>
          <p:cNvPr id="10" name="Lesson 4"/>
          <p:cNvSpPr txBox="1"/>
          <p:nvPr/>
        </p:nvSpPr>
        <p:spPr>
          <a:xfrm>
            <a:off x="1143000" y="43434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explicit about what was and was not run in real AWS.</a:t>
            </a:r>
            <a:endParaRPr lang="en-US" sz="2000" dirty="0"/>
          </a:p>
        </p:txBody>
      </p:sp>
      <p:sp>
        <p:nvSpPr>
          <p:cNvPr id="11" name="Thanks"/>
          <p:cNvSpPr txBox="1"/>
          <p:nvPr/>
        </p:nvSpPr>
        <p:spPr>
          <a:xfrm>
            <a:off x="548640" y="5394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BF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12" name="Repo link end"/>
          <p:cNvSpPr txBox="1"/>
          <p:nvPr/>
        </p:nvSpPr>
        <p:spPr>
          <a:xfrm>
            <a:off x="5669280" y="54864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B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github.com/SubhanRahiman7/final-devops-project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lpDesk DevOps">
  <a:themeElements>
    <a:clrScheme name="HelpDesk DevOps">
      <a:dk1>
        <a:srgbClr val="0E1F1B"/>
      </a:dk1>
      <a:lt1>
        <a:srgbClr val="FFFFFF"/>
      </a:lt1>
      <a:dk2>
        <a:srgbClr val="163A33"/>
      </a:dk2>
      <a:lt2>
        <a:srgbClr val="EEF4F2"/>
      </a:lt2>
      <a:accent1>
        <a:srgbClr val="1FBF9A"/>
      </a:accent1>
      <a:accent2>
        <a:srgbClr val="F2A93B"/>
      </a:accent2>
      <a:accent3>
        <a:srgbClr val="E4572E"/>
      </a:accent3>
      <a:accent4>
        <a:srgbClr val="5B8DEF"/>
      </a:accent4>
      <a:accent5>
        <a:srgbClr val="8E7DBE"/>
      </a:accent5>
      <a:accent6>
        <a:srgbClr val="8A9A95"/>
      </a:accent6>
      <a:hlink>
        <a:srgbClr val="1FBF9A"/>
      </a:hlink>
      <a:folHlink>
        <a:srgbClr val="8A9A95"/>
      </a:folHlink>
    </a:clrScheme>
    <a:fontScheme name="HelpDesk DevOp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HelpDesk - DevOps final capstone</dc:title>
  <dc:subject>PptxGenJS Presentation</dc:subject>
  <dc:creator>Subhan Rahiman</dc:creator>
  <cp:lastModifiedBy>Subhan Rahiman</cp:lastModifiedBy>
  <cp:revision>1</cp:revision>
  <dcterms:created xsi:type="dcterms:W3CDTF">2026-10-15T18:07:00Z</dcterms:created>
  <dcterms:modified xsi:type="dcterms:W3CDTF">2026-10-15T18:07:00Z</dcterms:modified>
</cp:coreProperties>
</file>